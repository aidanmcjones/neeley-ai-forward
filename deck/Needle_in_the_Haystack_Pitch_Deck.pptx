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20 sec</a:t>
            </a:r>
          </a:p>
          <a:p/>
          <a:p>
            <a:r>
              <a:t>AIDAN: I'm Aidan. I'm a founding forward-deployed engineer at Vulcan Technologies, a Y Combinator company, and a pre-med biology major here at TCU. I built the system.</a:t>
            </a:r>
          </a:p>
          <a:p/>
          <a:p>
            <a:r>
              <a:t>PARKER: I'm Parker. I'm a finance major in Neeley, and I cover healthcare as an analyst at Summit TX Capital. I pressure-tested the findings and made the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40 sec · AIDAN</a:t>
            </a:r>
          </a:p>
          <a:p/>
          <a:p>
            <a:r>
              <a:t>The case asks two things: find what a drugmaker's filings hide, then make one CEO decision.</a:t>
            </a:r>
          </a:p>
          <a:p/>
          <a:p>
            <a:r>
              <a:t>The hard part is AI. It makes up page numbers, and it will argue for any strategy.</a:t>
            </a:r>
          </a:p>
          <a:p/>
          <a:p>
            <a:r>
              <a:t>So we scraped our own database: 7,005 documents and 78,392 pages.</a:t>
            </a:r>
          </a:p>
          <a:p/>
          <a:p>
            <a:r>
              <a:t>Skill one sends ten blind readers through all ten companies, and two skeptic agents try to kill every finding. 141 candidates, 25 kept, Amgen came out first.</a:t>
            </a:r>
          </a:p>
          <a:p/>
          <a:p>
            <a:r>
              <a:t>Skill two does the same for the CEO move.</a:t>
            </a:r>
          </a:p>
          <a:p/>
          <a:p>
            <a:r>
              <a:t>And no number reaches the screen unless it links back to its page.</a:t>
            </a:r>
          </a:p>
          <a:p/>
          <a:p>
            <a:r>
              <a:t>Hand to Parker.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60 sec · PARKER</a:t>
            </a:r>
          </a:p>
          <a:p/>
          <a:p>
            <a:r>
              <a:t>Amgen was the only one of the ten with two findings that are material, non-obvious and high-confidence.</a:t>
            </a:r>
          </a:p>
          <a:p/>
          <a:p>
            <a:r>
              <a:t>Our Sharpest Needle: Amgen carries a $2.4 billion intangible for TAVNEOS, about 5.2 times its sales, and the FDA has formally proposed pulling the drug.</a:t>
            </a:r>
          </a:p>
          <a:p/>
          <a:p>
            <a:r>
              <a:t>Between the Q1 and Q2 10-Qs the impairment wording softened, and no call or release mentions the number.</a:t>
            </a:r>
          </a:p>
          <a:p/>
          <a:p>
            <a:r>
              <a:t>A full write-off is about $4.23 a share.</a:t>
            </a:r>
          </a:p>
          <a:p/>
          <a:p>
            <a:r>
              <a:t>The other four back it up. We marked rows four and five obvious, because management has talked about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40 sec · PARKER</a:t>
            </a:r>
          </a:p>
          <a:p/>
          <a:p>
            <a:r>
              <a:t>Repatha against Praluent, Leqvio and Merck's new pill, Lipfendra.</a:t>
            </a:r>
          </a:p>
          <a:p/>
          <a:p>
            <a:r>
              <a:t>Repatha has the best label: it's the only one whose outcomes claim includes heart procedures.</a:t>
            </a:r>
          </a:p>
          <a:p/>
          <a:p>
            <a:r>
              <a:t>What limits it is price. Amgen guides net price down mid-single digits, and each 1% is about $30 million.</a:t>
            </a:r>
          </a:p>
          <a:p/>
          <a:p>
            <a:r>
              <a:t>We call it not priced in, at medium confidence, because no product-level analyst estimates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60 sec · PARKER, then AIDAN</a:t>
            </a:r>
          </a:p>
          <a:p/>
          <a:p>
            <a:r>
              <a:t>PARKER: As CEO, we commit $12.5 million and 12 people to offer the FDA a fully funded TAVNEOS trial instead of withdrawal. Trial money moves only if the FDA agrees.</a:t>
            </a:r>
          </a:p>
          <a:p/>
          <a:p>
            <a:r>
              <a:t>The most we lose is $12.5 million, to defend a $2.3 billion U.S. asset. We break even if the offer raises the odds of keeping the drug by 3 points.</a:t>
            </a:r>
          </a:p>
          <a:p/>
          <a:p>
            <a:r>
              <a:t>AIDAN: We rejected Repatha rebates, about $424 million for a sales lift we couldn't support, and a Repatha campaign, which was already management's plan and left out side effects.</a:t>
            </a:r>
          </a:p>
          <a:p/>
          <a:p>
            <a:r>
              <a:t>We'll know we're wrong if the FDA denies the hearing, gives no go-ahead by month 12, or U.S. sales drop under $114 million a quarter.</a:t>
            </a:r>
          </a:p>
          <a:p/>
          <a:p>
            <a:r>
              <a:t>And to be straight with you: there's no FDA precedent for accepting this. That's why we cap the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· rest of the time · AIDAN drives, PARKER narrates</a:t>
            </a:r>
          </a:p>
          <a:p/>
          <a:p>
            <a:r>
              <a:t>AIDAN: This is the live product. Scan the code if you want to follow along on your phone.</a:t>
            </a:r>
          </a:p>
          <a:p/>
          <a:p>
            <a:r>
              <a:t>[Click Find the needle. Wait for the answer.]</a:t>
            </a:r>
          </a:p>
          <a:p/>
          <a:p>
            <a:r>
              <a:t>AIDAN: Every number has a footnote.</a:t>
            </a:r>
          </a:p>
          <a:p/>
          <a:p>
            <a:r>
              <a:t>[Click the $2.4B footnote. The 10-Q opens at page 16.]</a:t>
            </a:r>
          </a:p>
          <a:p/>
          <a:p>
            <a:r>
              <a:t>PARKER: That's the exact sentence in Amgen's 10-Q.</a:t>
            </a:r>
          </a:p>
          <a:p/>
          <a:p>
            <a:r>
              <a:t>[Click The CEO Move.]</a:t>
            </a:r>
          </a:p>
          <a:p/>
          <a:p>
            <a:r>
              <a:t>PARKER: Same check on the move: the budget, the math, and what would prove us wrong.</a:t>
            </a:r>
          </a:p>
          <a:p/>
          <a:p>
            <a:r>
              <a:t>AIDAN: Two reusable skills, our own database, and every answer cited.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· not presented · Q&amp;A prep</a:t>
            </a:r>
          </a:p>
          <a:p/>
          <a:p>
            <a:r>
              <a:t>Why only medium confidence? No product-level analyst estimates exist.</a:t>
            </a:r>
          </a:p>
          <a:p/>
          <a:p>
            <a:r>
              <a:t>What are the asterisks? Numbers no filing states: the $12.5M budget, 12 people, the month-12 deadline and the $413M yearly run-rate. Each is labelled in the model.</a:t>
            </a:r>
          </a:p>
          <a:p/>
          <a:p>
            <a:r>
              <a:t>Is the $2.4B already in the stock? Analysts asked about TAVNEOS once in 10 calls, and the stock rose 2.4% on the filing.</a:t>
            </a:r>
          </a:p>
          <a:p/>
          <a:p>
            <a:r>
              <a:t>How do you stop the AI making things up? Every number is checked against its page by code, a fresh agent re-checks all of them, and a person reads the page behind every needle.</a:t>
            </a:r>
          </a:p>
          <a:p/>
          <a:p>
            <a:r>
              <a:t>Why not Merck? It ranked second. Its best finding, about $1.56B of IRS exposure, was smaller per share than Amgen's.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sec.gov/Archives/edgar/data/318154/000031815426000126/amgn-20260630.htm" TargetMode="External"/><Relationship Id="rId4" Type="http://schemas.openxmlformats.org/officeDocument/2006/relationships/hyperlink" Target="https://www.sec.gov/Archives/edgar/data/318154/000031815426000010/amgn-20251231.htm" TargetMode="External"/><Relationship Id="rId5" Type="http://schemas.openxmlformats.org/officeDocument/2006/relationships/hyperlink" Target="https://www.sec.gov/Archives/edgar/data/318154/000031815426000057/amgn-20260331.htm" TargetMode="Externa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image" Target="../media/image4.gif"/><Relationship Id="rId6" Type="http://schemas.openxmlformats.org/officeDocument/2006/relationships/image" Target="../media/image5.gif"/><Relationship Id="rId7" Type="http://schemas.openxmlformats.org/officeDocument/2006/relationships/hyperlink" Target="https://dailymed.nlm.nih.gov/dailymed/history.cfm?setid=cd61e902-166d-4aa6-9f3c-a18c1008d07e" TargetMode="External"/><Relationship Id="rId8" Type="http://schemas.openxmlformats.org/officeDocument/2006/relationships/hyperlink" Target="https://dailymed.nlm.nih.gov/dailymed/history.cfm?setid=446f6b5c-0dd4-44ff-9bc2-c2b41f2806b4" TargetMode="External"/><Relationship Id="rId9" Type="http://schemas.openxmlformats.org/officeDocument/2006/relationships/hyperlink" Target="https://dailymed.nlm.nih.gov/dailymed/history.cfm?setid=6fc0afca-4513-4c35-b594-6544aee29a44" TargetMode="External"/><Relationship Id="rId10" Type="http://schemas.openxmlformats.org/officeDocument/2006/relationships/hyperlink" Target="https://dailymed.nlm.nih.gov/dailymed/drugInfo.cfm?setid=100ec543-fbd0-44fc-b740-db9cdff39145" TargetMode="External"/><Relationship Id="rId11" Type="http://schemas.openxmlformats.org/officeDocument/2006/relationships/hyperlink" Target="https://www.sec.gov/Archives/edgar/data/318154/000031815426000010/amgn-20251231.htm" TargetMode="External"/><Relationship Id="rId12" Type="http://schemas.openxmlformats.org/officeDocument/2006/relationships/hyperlink" Target="https://www.sec.gov/Archives/edgar/data/318154/000031815426000057/amgn-20260331.htm" TargetMode="External"/><Relationship Id="rId13" Type="http://schemas.openxmlformats.org/officeDocument/2006/relationships/hyperlink" Target="https://www.sec.gov/Archives/edgar/data/1114448/000111444826000004/nvs-20251231.htm" TargetMode="External"/><Relationship Id="rId14" Type="http://schemas.openxmlformats.org/officeDocument/2006/relationships/hyperlink" Target="https://www.rcsb.org/structure/3H42" TargetMode="External"/><Relationship Id="rId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sec.gov/Archives/edgar/data/318154/000031815426000126/amgn-20260630.htm" TargetMode="External"/><Relationship Id="rId4" Type="http://schemas.openxmlformats.org/officeDocument/2006/relationships/hyperlink" Target="https://www.federalregister.gov/documents/2026/04/30/2026-08455/chemocentryx-inc-proposal-to-withdraw-approval-of-new-drug-application-for-tavneos-avacopan-capsule" TargetMode="External"/><Relationship Id="rId5" Type="http://schemas.openxmlformats.org/officeDocument/2006/relationships/hyperlink" Target="https://www.marketbeat.com/earnings/reports/2026-8-6-amgen-inc-stock/" TargetMode="Externa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aidanmcjones.github.io/needle-demo/" TargetMode="Externa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sec.gov/Archives/edgar/data/318154/000031815426000126/amgn-20260630.htm" TargetMode="External"/><Relationship Id="rId4" Type="http://schemas.openxmlformats.org/officeDocument/2006/relationships/hyperlink" Target="https://www.sec.gov/Archives/edgar/data/318154/000031815426000010/amgn-20251231.htm" TargetMode="External"/><Relationship Id="rId5" Type="http://schemas.openxmlformats.org/officeDocument/2006/relationships/hyperlink" Target="https://www.sec.gov/Archives/edgar/data/318154/000031815426000057/amgn-20260331.htm" TargetMode="Externa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Baloo 2"/>
              </a:rPr>
              <a:t>NEEDLE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4400" b="1" i="0">
                <a:solidFill>
                  <a:srgbClr val="FFFFFF"/>
                </a:solidFill>
                <a:latin typeface="Baloo 2"/>
              </a:rPr>
              <a:t>The Fine Print,</a:t>
            </a:r>
          </a:p>
          <a:p>
            <a:pPr algn="l">
              <a:lnSpc>
                <a:spcPct val="85000"/>
              </a:lnSpc>
            </a:pPr>
            <a:r>
              <a:rPr sz="4400" b="1" i="0">
                <a:solidFill>
                  <a:srgbClr val="E0AA3A"/>
                </a:solidFill>
                <a:latin typeface="Baloo 2"/>
              </a:rPr>
              <a:t>found and decided.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DEF5"/>
                </a:solidFill>
                <a:latin typeface="Aptos"/>
              </a:rPr>
              <a:t>Advanced Track · Neeley AI Forward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14400"/>
            <a:ext cx="6537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394960" y="1600200"/>
            <a:ext cx="1005840" cy="1005840"/>
          </a:xfrm>
          <a:prstGeom prst="ellipse">
            <a:avLst/>
          </a:prstGeom>
          <a:solidFill>
            <a:srgbClr val="4D1979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Baloo 2"/>
              </a:rPr>
              <a:t>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1630"/>
                </a:solidFill>
                <a:latin typeface="Baloo 2"/>
              </a:rPr>
              <a:t>Aidan Jones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Founding Forward-Deployed Engineer, Vulcan Technologies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B.S. Biology, pre-med · TCU College of Science &amp;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606040"/>
            <a:ext cx="1444752" cy="292608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4D1979"/>
                </a:solidFill>
                <a:latin typeface="Aptos"/>
              </a:rPr>
              <a:t>Y Combinator S24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606040"/>
            <a:ext cx="2103120" cy="292608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4D1979"/>
                </a:solidFill>
                <a:latin typeface="Aptos"/>
              </a:rPr>
              <a:t>Series A, $300M 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566160"/>
            <a:ext cx="6537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394960" y="4251960"/>
            <a:ext cx="1005840" cy="1005840"/>
          </a:xfrm>
          <a:prstGeom prst="ellipse">
            <a:avLst/>
          </a:prstGeom>
          <a:solidFill>
            <a:srgbClr val="4D1979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Baloo 2"/>
              </a:rPr>
              <a:t>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31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1630"/>
                </a:solidFill>
                <a:latin typeface="Baloo 2"/>
              </a:rPr>
              <a:t>Parker Kingsbury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05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Finance · TCU Neeley School of Business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Healthcare analyst, Summit TX Capital (hedge fund)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525780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4D1979"/>
                </a:solidFill>
                <a:latin typeface="Aptos"/>
              </a:rPr>
              <a:t>EIF member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525780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4D1979"/>
                </a:solidFill>
                <a:latin typeface="Aptos"/>
              </a:rPr>
              <a:t>Healthcare investing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1832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D1979"/>
                </a:solidFill>
                <a:latin typeface="Baloo 2"/>
              </a:rPr>
              <a:t>NEEDLE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"/>
            <a:ext cx="1478584" cy="237744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900" b="1">
                <a:solidFill>
                  <a:srgbClr val="4D1979"/>
                </a:solidFill>
                <a:latin typeface="Aptos"/>
              </a:rPr>
              <a:t>PROBLEM →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1630"/>
                </a:solidFill>
                <a:latin typeface="Baloo 2"/>
              </a:rPr>
              <a:t>Find what filings hide, pick one move, cite every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97180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137160" rIns="137160" tIns="27432" bIns="27432"/>
          <a:lstStyle/>
          <a:p>
            <a:pPr algn="l"/>
            <a:r>
              <a:rPr sz="1100" b="1">
                <a:solidFill>
                  <a:srgbClr val="4D1979"/>
                </a:solidFill>
                <a:latin typeface="Aptos"/>
              </a:rPr>
              <a:t>Part 1  </a:t>
            </a:r>
            <a:r>
              <a:rPr sz="1250" b="1">
                <a:solidFill>
                  <a:srgbClr val="1F1630"/>
                </a:solidFill>
                <a:latin typeface="Aptos"/>
              </a:rPr>
              <a:t>5 hidden, material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78892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137160" rIns="137160" tIns="27432" bIns="27432"/>
          <a:lstStyle/>
          <a:p>
            <a:pPr algn="l"/>
            <a:r>
              <a:rPr sz="1100" b="1">
                <a:solidFill>
                  <a:srgbClr val="4D1979"/>
                </a:solidFill>
                <a:latin typeface="Aptos"/>
              </a:rPr>
              <a:t>Part 2  </a:t>
            </a:r>
            <a:r>
              <a:rPr sz="1250" b="1">
                <a:solidFill>
                  <a:srgbClr val="1F1630"/>
                </a:solidFill>
                <a:latin typeface="Aptos"/>
              </a:rPr>
              <a:t>One CEO move, with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71600"/>
            <a:ext cx="278892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137160" rIns="137160" tIns="27432" bIns="27432"/>
          <a:lstStyle/>
          <a:p>
            <a:pPr algn="l"/>
            <a:r>
              <a:rPr sz="1100" b="1">
                <a:solidFill>
                  <a:srgbClr val="B3261E"/>
                </a:solidFill>
                <a:latin typeface="Aptos"/>
              </a:rPr>
              <a:t>Risk  </a:t>
            </a:r>
            <a:r>
              <a:rPr sz="1250" b="1">
                <a:solidFill>
                  <a:srgbClr val="1F1630"/>
                </a:solidFill>
                <a:latin typeface="Aptos"/>
              </a:rPr>
              <a:t>AI fabricates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33172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137160" rIns="137160" tIns="27432" bIns="27432"/>
          <a:lstStyle/>
          <a:p>
            <a:pPr algn="l"/>
            <a:r>
              <a:rPr sz="1100" b="1">
                <a:solidFill>
                  <a:srgbClr val="B3261E"/>
                </a:solidFill>
                <a:latin typeface="Aptos"/>
              </a:rPr>
              <a:t>Risk  </a:t>
            </a:r>
            <a:r>
              <a:rPr sz="1250" b="1">
                <a:solidFill>
                  <a:srgbClr val="1F1630"/>
                </a:solidFill>
                <a:latin typeface="Aptos"/>
              </a:rPr>
              <a:t>No answer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94560"/>
            <a:ext cx="2743200" cy="3429000"/>
          </a:xfrm>
          <a:prstGeom prst="roundRect">
            <a:avLst>
              <a:gd name="adj" fmla="val 6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C6F0"/>
                </a:solidFill>
                <a:latin typeface="Aptos"/>
              </a:rPr>
              <a:t>OUR SCRAPE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Baloo 2"/>
              </a:rPr>
              <a:t>7,005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DEF5"/>
                </a:solidFill>
                <a:latin typeface="Aptos"/>
              </a:rP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Baloo 2"/>
              </a:rPr>
              <a:t>78,392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DEF5"/>
                </a:solidFill>
                <a:latin typeface="Aptos"/>
              </a:rPr>
              <a:t>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513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Baloo 2"/>
              </a:rPr>
              <a:t>118,329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26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DEF5"/>
                </a:solidFill>
                <a:latin typeface="Aptos"/>
              </a:rPr>
              <a:t>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73752"/>
            <a:ext cx="818388" cy="274320"/>
          </a:xfrm>
          <a:prstGeom prst="roundRect">
            <a:avLst>
              <a:gd name="adj" fmla="val 30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Filings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3060" y="4873752"/>
            <a:ext cx="662940" cy="274320"/>
          </a:xfrm>
          <a:prstGeom prst="roundRect">
            <a:avLst>
              <a:gd name="adj" fmla="val 30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9152" y="4873752"/>
            <a:ext cx="507491" cy="274320"/>
          </a:xfrm>
          <a:prstGeom prst="roundRect">
            <a:avLst>
              <a:gd name="adj" fmla="val 30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21224"/>
            <a:ext cx="1051560" cy="274320"/>
          </a:xfrm>
          <a:prstGeom prst="roundRect">
            <a:avLst>
              <a:gd name="adj" fmla="val 30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FDA labels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56232" y="5221224"/>
            <a:ext cx="662940" cy="274320"/>
          </a:xfrm>
          <a:prstGeom prst="roundRect">
            <a:avLst>
              <a:gd name="adj" fmla="val 30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Deals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73552" y="3017520"/>
            <a:ext cx="402335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73552" y="4800600"/>
            <a:ext cx="402335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03320" y="2194560"/>
            <a:ext cx="79552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86200" y="2304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SKILL 1 · FIND THE NEEDLE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260604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4D1979"/>
                </a:solidFill>
                <a:latin typeface="Aptos"/>
              </a:rPr>
              <a:t>10 blind readers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77256" y="296265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897880" y="260604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FBE9E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B3261E"/>
                </a:solidFill>
                <a:latin typeface="Aptos"/>
              </a:rPr>
              <a:t>2 skeptics x 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88936" y="296265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09560" y="260604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E3F2EA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1E7F4F"/>
                </a:solidFill>
                <a:latin typeface="Aptos"/>
              </a:rPr>
              <a:t>Sealed ranking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0616" y="296265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1240" y="260604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4D1979"/>
                </a:solidFill>
                <a:latin typeface="Aptos"/>
              </a:rPr>
              <a:t>Cited findings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438144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1630"/>
                </a:solidFill>
                <a:latin typeface="Aptos"/>
              </a:rPr>
              <a:t>141 candidates → 25 kept → Amgen #1 of 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3977639"/>
            <a:ext cx="79552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86200" y="4087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SKILL 2 · THE CEO MOVE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438912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4D1979"/>
                </a:solidFill>
                <a:latin typeface="Aptos"/>
              </a:rPr>
              <a:t>Strategist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77256" y="474573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897880" y="438912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FBE9E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B3261E"/>
                </a:solidFill>
                <a:latin typeface="Aptos"/>
              </a:rPr>
              <a:t>CFO skeptic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88936" y="474573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909560" y="438912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FBE9E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B3261E"/>
                </a:solidFill>
                <a:latin typeface="Aptos"/>
              </a:rPr>
              <a:t>Decider skeptic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00616" y="4745736"/>
            <a:ext cx="384048" cy="0"/>
          </a:xfrm>
          <a:prstGeom prst="line">
            <a:avLst/>
          </a:prstGeom>
          <a:ln w="44450">
            <a:solidFill>
              <a:srgbClr val="8A5CC2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921240" y="4389120"/>
            <a:ext cx="1554480" cy="713232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4D1979"/>
                </a:solidFill>
                <a:latin typeface="Aptos"/>
              </a:rPr>
              <a:t>One move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5221224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1630"/>
                </a:solidFill>
                <a:latin typeface="Aptos"/>
              </a:rPr>
              <a:t>13 moves → 9 cut → 1 chosen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806440"/>
            <a:ext cx="11155680" cy="502920"/>
          </a:xfrm>
          <a:prstGeom prst="roundRect">
            <a:avLst>
              <a:gd name="adj" fmla="val 25000"/>
            </a:avLst>
          </a:prstGeom>
          <a:solidFill>
            <a:srgbClr val="E3F2EA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E7F4F"/>
                </a:solidFill>
                <a:latin typeface="Aptos"/>
              </a:rPr>
              <a:t>Every number links back to the page it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1832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D1979"/>
                </a:solidFill>
                <a:latin typeface="Baloo 2"/>
              </a:rPr>
              <a:t>NEEDLE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"/>
            <a:ext cx="1898294" cy="237744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900" b="1">
                <a:solidFill>
                  <a:srgbClr val="4D1979"/>
                </a:solidFill>
                <a:latin typeface="Aptos"/>
              </a:rPr>
              <a:t>PART 1 · FIND THE NEEDLE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1630"/>
                </a:solidFill>
                <a:latin typeface="Baloo 2"/>
              </a:rPr>
              <a:t>Five findings buried in Amgen filings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D1979"/>
                </a:solidFill>
                <a:latin typeface="Aptos"/>
              </a:rPr>
              <a:t>Amgen was the only one of 10</a:t>
            </a:r>
            <a:r>
              <a:rPr sz="1400" b="0" i="0">
                <a:solidFill>
                  <a:srgbClr val="1F1630"/>
                </a:solidFill>
                <a:latin typeface="Aptos"/>
              </a:rPr>
              <a:t> with two findings that are material, non-obvious and high-confidence.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7726680" cy="329184"/>
          </a:xfrm>
          <a:prstGeom prst="roundRect">
            <a:avLst>
              <a:gd name="adj" fmla="val 15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70078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0078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700784"/>
            <a:ext cx="1691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700784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Conf.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70078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Obvious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066544"/>
            <a:ext cx="7726680" cy="768096"/>
          </a:xfrm>
          <a:prstGeom prst="roundRect">
            <a:avLst>
              <a:gd name="adj" fmla="val 10000"/>
            </a:avLst>
          </a:prstGeom>
          <a:solidFill>
            <a:srgbClr val="EDE5F6"/>
          </a:solidFill>
          <a:ln w="25400">
            <a:solidFill>
              <a:srgbClr val="E0AA3A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" y="2066544"/>
            <a:ext cx="365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D1979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066544"/>
            <a:ext cx="3886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$2.4B TAVNEOS asset, 5.2x sales, facing FDA withdrawal</a:t>
            </a:r>
            <a:r>
              <a:rPr sz="900" b="1" i="0">
                <a:solidFill>
                  <a:srgbClr val="4D1979"/>
                </a:solidFill>
                <a:latin typeface="Aptos"/>
              </a:rPr>
              <a:t>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2560320"/>
            <a:ext cx="1234440" cy="201168"/>
          </a:xfrm>
          <a:prstGeom prst="roundRect">
            <a:avLst>
              <a:gd name="adj" fmla="val 30000"/>
            </a:avLst>
          </a:prstGeom>
          <a:solidFill>
            <a:srgbClr val="E0AA3A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800" b="1">
                <a:solidFill>
                  <a:srgbClr val="3C145F"/>
                </a:solidFill>
                <a:latin typeface="Aptos"/>
              </a:rPr>
              <a:t>SHARPEST NEEDLE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066544"/>
            <a:ext cx="16916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$4.23</a:t>
            </a:r>
            <a:r>
              <a:rPr sz="1200" b="0" i="0">
                <a:solidFill>
                  <a:srgbClr val="1F1630"/>
                </a:solidFill>
                <a:latin typeface="Aptos"/>
              </a:rPr>
              <a:t>/sh write-off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6268" y="231343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3508" y="231343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89504"/>
            <a:ext cx="77266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2648" y="2889504"/>
            <a:ext cx="365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D1979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2889504"/>
            <a:ext cx="3886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Deductions hit 54% of gross; reserves flatter cash</a:t>
            </a:r>
            <a:r>
              <a:rPr sz="900" b="1" i="0">
                <a:solidFill>
                  <a:srgbClr val="4D1979"/>
                </a:solidFill>
                <a:latin typeface="Aptos"/>
              </a:rPr>
              <a:t>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2889504"/>
            <a:ext cx="16916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$1.07B</a:t>
            </a:r>
            <a:r>
              <a:rPr sz="1200" b="0" i="0">
                <a:solidFill>
                  <a:srgbClr val="1F1630"/>
                </a:solidFill>
                <a:latin typeface="Aptos"/>
              </a:rPr>
              <a:t> cash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6268" y="313639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3508" y="313639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12464"/>
            <a:ext cx="77266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648" y="3712464"/>
            <a:ext cx="365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D1979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712464"/>
            <a:ext cx="3886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22% channel stocking inside TEPEZZA Q1 growth</a:t>
            </a:r>
            <a:r>
              <a:rPr sz="900" b="1" i="0">
                <a:solidFill>
                  <a:srgbClr val="4D1979"/>
                </a:solidFill>
                <a:latin typeface="Aptos"/>
              </a:rPr>
              <a:t>[3]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3712464"/>
            <a:ext cx="16916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$84M</a:t>
            </a:r>
            <a:r>
              <a:rPr sz="1200" b="0" i="0">
                <a:solidFill>
                  <a:srgbClr val="1F1630"/>
                </a:solidFill>
                <a:latin typeface="Aptos"/>
              </a:rPr>
              <a:t>, 24% of Q1 growth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6268" y="395935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B26A00"/>
                </a:solidFill>
                <a:latin typeface="Aptos"/>
              </a:rPr>
              <a:t>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3508" y="395935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535424"/>
            <a:ext cx="77266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2648" y="4535424"/>
            <a:ext cx="365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D1979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" y="4535424"/>
            <a:ext cx="3886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IRS Puerto Rico case: at least $7.6B before interest</a:t>
            </a:r>
            <a:r>
              <a:rPr sz="900" b="1" i="0">
                <a:solidFill>
                  <a:srgbClr val="4D1979"/>
                </a:solidFill>
                <a:latin typeface="Aptos"/>
              </a:rPr>
              <a:t>[2]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4535424"/>
            <a:ext cx="16916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$13.97</a:t>
            </a:r>
            <a:r>
              <a:rPr sz="1200" b="0" i="0">
                <a:solidFill>
                  <a:srgbClr val="1F1630"/>
                </a:solidFill>
                <a:latin typeface="Aptos"/>
              </a:rPr>
              <a:t>/sh cash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16268" y="478231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3508" y="4782312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B3261E"/>
                </a:solidFill>
                <a:latin typeface="Aptos"/>
              </a:rP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358383"/>
            <a:ext cx="77266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2648" y="5358383"/>
            <a:ext cx="365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D1979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5358383"/>
            <a:ext cx="3886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Partner profit share up $349M to $1.31B</a:t>
            </a:r>
            <a:r>
              <a:rPr sz="900" b="1" i="0">
                <a:solidFill>
                  <a:srgbClr val="4D1979"/>
                </a:solidFill>
                <a:latin typeface="Aptos"/>
              </a:rPr>
              <a:t>[2]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65192" y="5358383"/>
            <a:ext cx="169163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+</a:t>
            </a:r>
            <a:r>
              <a:rPr sz="1200" b="1" i="0">
                <a:solidFill>
                  <a:srgbClr val="1F1630"/>
                </a:solidFill>
                <a:latin typeface="Aptos"/>
              </a:rPr>
              <a:t>0.99%</a:t>
            </a:r>
            <a:r>
              <a:rPr sz="1200" b="0" i="0">
                <a:solidFill>
                  <a:srgbClr val="1F1630"/>
                </a:solidFill>
                <a:latin typeface="Aptos"/>
              </a:rPr>
              <a:t> of sales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16268" y="5605271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E7F4F"/>
                </a:solidFill>
                <a:latin typeface="Aptos"/>
              </a:rPr>
              <a:t>high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3508" y="5605271"/>
            <a:ext cx="603504" cy="274320"/>
          </a:xfrm>
          <a:prstGeom prst="roundRect">
            <a:avLst>
              <a:gd name="adj" fmla="val 30000"/>
            </a:avLst>
          </a:prstGeom>
          <a:solidFill>
            <a:srgbClr val="F1ECF7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B3261E"/>
                </a:solidFill>
                <a:latin typeface="Aptos"/>
              </a:rPr>
              <a:t>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64592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549640" y="18013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0AA3A"/>
                </a:solidFill>
                <a:latin typeface="Aptos"/>
              </a:rPr>
              <a:t>SHARPEST NEEDLE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210312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700" b="1" i="0">
                <a:solidFill>
                  <a:srgbClr val="FFFFFF"/>
                </a:solidFill>
                <a:latin typeface="Baloo 2"/>
              </a:rPr>
              <a:t>The FDA wants TAVNEOS pulled; Amgen still books it at $2.4B.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49640" y="2880360"/>
            <a:ext cx="288036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659367" y="289864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$2.4B carrying value</a:t>
            </a:r>
            <a:r>
              <a:rPr sz="900" b="1" i="0">
                <a:solidFill>
                  <a:srgbClr val="4D1979"/>
                </a:solidFill>
                <a:latin typeface="Aptos"/>
              </a:rPr>
              <a:t>[1]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3355848"/>
            <a:ext cx="553915" cy="384048"/>
          </a:xfrm>
          <a:prstGeom prst="roundRect">
            <a:avLst>
              <a:gd name="adj" fmla="val 15000"/>
            </a:avLst>
          </a:prstGeom>
          <a:solidFill>
            <a:srgbClr val="D9C6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89719" y="337413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$459M sales</a:t>
            </a:r>
            <a:r>
              <a:rPr sz="900" b="1" i="0">
                <a:solidFill>
                  <a:srgbClr val="4D1979"/>
                </a:solidFill>
                <a:latin typeface="Aptos"/>
              </a:rPr>
              <a:t>[4]</a:t>
            </a:r>
          </a:p>
        </p:txBody>
      </p:sp>
      <p:sp>
        <p:nvSpPr>
          <p:cNvPr id="53" name="Oval 52"/>
          <p:cNvSpPr/>
          <p:nvPr/>
        </p:nvSpPr>
        <p:spPr>
          <a:xfrm>
            <a:off x="8549640" y="410565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604504" y="4242816"/>
            <a:ext cx="27432" cy="411480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805672" y="4050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Jan 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73767" y="4050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DEF5"/>
                </a:solidFill>
                <a:latin typeface="Aptos"/>
              </a:rPr>
              <a:t>FDA asks for withdrawal</a:t>
            </a:r>
          </a:p>
        </p:txBody>
      </p:sp>
      <p:sp>
        <p:nvSpPr>
          <p:cNvPr id="57" name="Oval 56"/>
          <p:cNvSpPr/>
          <p:nvPr/>
        </p:nvSpPr>
        <p:spPr>
          <a:xfrm>
            <a:off x="8549640" y="465429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8604504" y="4791456"/>
            <a:ext cx="27432" cy="411480"/>
          </a:xfrm>
          <a:prstGeom prst="rect">
            <a:avLst/>
          </a:prstGeom>
          <a:solidFill>
            <a:srgbClr val="8A5CC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805672" y="45994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Apr 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7" y="45994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DEF5"/>
                </a:solidFill>
                <a:latin typeface="Aptos"/>
              </a:rPr>
              <a:t>FDA proposes withdrawal</a:t>
            </a:r>
          </a:p>
        </p:txBody>
      </p:sp>
      <p:sp>
        <p:nvSpPr>
          <p:cNvPr id="61" name="Oval 60"/>
          <p:cNvSpPr/>
          <p:nvPr/>
        </p:nvSpPr>
        <p:spPr>
          <a:xfrm>
            <a:off x="8549640" y="520293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805672" y="51480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Q2 10-Q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7" y="5148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DEF5"/>
                </a:solidFill>
                <a:latin typeface="Aptos"/>
              </a:rPr>
              <a:t>impairment wording softens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56692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FFFFF"/>
                </a:solidFill>
                <a:latin typeface="Aptos"/>
              </a:rPr>
              <a:t>No call or release mentions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3825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D1979"/>
                </a:solidFill>
                <a:latin typeface="Aptos"/>
              </a:rPr>
              <a:t>[1] </a:t>
            </a:r>
            <a:r>
              <a:rPr sz="800" b="0" i="0">
                <a:solidFill>
                  <a:srgbClr val="5E566C"/>
                </a:solidFill>
                <a:latin typeface="Aptos"/>
                <a:hlinkClick r:id="rId3"/>
              </a:rPr>
              <a:t>Amgen 10-Q Q2 2026, p. 16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[2] </a:t>
            </a:r>
            <a:r>
              <a:rPr sz="800" b="0" i="0">
                <a:solidFill>
                  <a:srgbClr val="5E566C"/>
                </a:solidFill>
                <a:latin typeface="Aptos"/>
                <a:hlinkClick r:id="rId4"/>
              </a:rPr>
              <a:t>Amgen 10-K FY2025, pp. 77-79, F-29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[3] </a:t>
            </a:r>
            <a:r>
              <a:rPr sz="800" b="0" i="0">
                <a:solidFill>
                  <a:srgbClr val="5E566C"/>
                </a:solidFill>
                <a:latin typeface="Aptos"/>
                <a:hlinkClick r:id="rId5"/>
              </a:rPr>
              <a:t>Amgen 10-Q Q1 2026, p. 33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[4] </a:t>
            </a:r>
            <a:r>
              <a:rPr sz="800" b="0" i="0">
                <a:solidFill>
                  <a:srgbClr val="5E566C"/>
                </a:solidFill>
                <a:latin typeface="Aptos"/>
                <a:hlinkClick r:id="rId4"/>
              </a:rPr>
              <a:t>10-K p.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1832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D1979"/>
                </a:solidFill>
                <a:latin typeface="Baloo 2"/>
              </a:rPr>
              <a:t>NEEDLE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"/>
            <a:ext cx="1338681" cy="237744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900" b="1">
                <a:solidFill>
                  <a:srgbClr val="4D1979"/>
                </a:solidFill>
                <a:latin typeface="Aptos"/>
              </a:rPr>
              <a:t>PART 1 ·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1630"/>
                </a:solidFill>
                <a:latin typeface="Baloo 2"/>
              </a:rPr>
              <a:t>Repatha: best label, falling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Each drug's target in 3D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Protein Data Bank crystal structures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D1979"/>
                </a:solidFill>
                <a:latin typeface="Aptos"/>
              </a:rPr>
              <a:t>[8]</a:t>
            </a:r>
          </a:p>
        </p:txBody>
      </p:sp>
      <p:pic>
        <p:nvPicPr>
          <p:cNvPr id="9" name="Picture 8" descr="3H4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5" y="1243584"/>
            <a:ext cx="1389888" cy="868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368296" y="2130552"/>
            <a:ext cx="2258568" cy="530352"/>
          </a:xfrm>
          <a:prstGeom prst="roundRect">
            <a:avLst>
              <a:gd name="adj" fmla="val 15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Repatha</a:t>
            </a:r>
            <a:r>
              <a:rPr sz="900" b="1">
                <a:solidFill>
                  <a:srgbClr val="D9C6F0"/>
                </a:solidFill>
                <a:latin typeface="Aptos"/>
              </a:rPr>
              <a:t>[1]</a:t>
            </a:r>
          </a:p>
          <a:p>
            <a:pPr algn="ctr"/>
            <a:r>
              <a:rPr sz="800" b="0">
                <a:solidFill>
                  <a:srgbClr val="D9C6F0"/>
                </a:solidFill>
                <a:latin typeface="Aptos"/>
              </a:rPr>
              <a:t>PCSK9 + antibody · PDB 3H42</a:t>
            </a:r>
          </a:p>
        </p:txBody>
      </p:sp>
      <p:pic>
        <p:nvPicPr>
          <p:cNvPr id="11" name="Picture 10" descr="2P4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55" y="1243584"/>
            <a:ext cx="1389888" cy="868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00016" y="2130552"/>
            <a:ext cx="2258568" cy="5303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F1630"/>
                </a:solidFill>
                <a:latin typeface="Aptos"/>
              </a:rPr>
              <a:t>Praluent</a:t>
            </a:r>
            <a:r>
              <a:rPr sz="900" b="1">
                <a:solidFill>
                  <a:srgbClr val="4D1979"/>
                </a:solidFill>
                <a:latin typeface="Aptos"/>
              </a:rPr>
              <a:t>[2]</a:t>
            </a:r>
          </a:p>
          <a:p>
            <a:pPr algn="ctr"/>
            <a:r>
              <a:rPr sz="800" b="0">
                <a:solidFill>
                  <a:srgbClr val="5E566C"/>
                </a:solidFill>
                <a:latin typeface="Aptos"/>
              </a:rPr>
              <a:t>PCSK9, its target · PDB 2P4E</a:t>
            </a:r>
          </a:p>
        </p:txBody>
      </p:sp>
      <p:pic>
        <p:nvPicPr>
          <p:cNvPr id="13" name="Picture 12" descr="2P4E_b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5" y="1243584"/>
            <a:ext cx="1389888" cy="868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31736" y="2130552"/>
            <a:ext cx="2258568" cy="5303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F1630"/>
                </a:solidFill>
                <a:latin typeface="Aptos"/>
              </a:rPr>
              <a:t>Leqvio</a:t>
            </a:r>
            <a:r>
              <a:rPr sz="900" b="1">
                <a:solidFill>
                  <a:srgbClr val="4D1979"/>
                </a:solidFill>
                <a:latin typeface="Aptos"/>
              </a:rPr>
              <a:t>[3]</a:t>
            </a:r>
          </a:p>
          <a:p>
            <a:pPr algn="ctr"/>
            <a:r>
              <a:rPr sz="800" b="0">
                <a:solidFill>
                  <a:srgbClr val="5E566C"/>
                </a:solidFill>
                <a:latin typeface="Aptos"/>
              </a:rPr>
              <a:t>PCSK9, its target · PDB 2P4E</a:t>
            </a:r>
          </a:p>
        </p:txBody>
      </p:sp>
      <p:pic>
        <p:nvPicPr>
          <p:cNvPr id="15" name="Picture 14" descr="10SB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796" y="1243584"/>
            <a:ext cx="1389888" cy="8686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363455" y="2130552"/>
            <a:ext cx="2258568" cy="5303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F1630"/>
                </a:solidFill>
                <a:latin typeface="Aptos"/>
              </a:rPr>
              <a:t>Lipfendra</a:t>
            </a:r>
            <a:r>
              <a:rPr sz="900" b="1">
                <a:solidFill>
                  <a:srgbClr val="4D1979"/>
                </a:solidFill>
                <a:latin typeface="Aptos"/>
              </a:rPr>
              <a:t>[4]</a:t>
            </a:r>
          </a:p>
          <a:p>
            <a:pPr algn="ctr"/>
            <a:r>
              <a:rPr sz="800" b="0">
                <a:solidFill>
                  <a:srgbClr val="5E566C"/>
                </a:solidFill>
                <a:latin typeface="Aptos"/>
              </a:rPr>
              <a:t>PCSK9 + drug-series peptide · PDB 10SB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Approved uses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8296" y="2788920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2468879" y="2907792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97479" y="2743200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Heart events + procedures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2907792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Heart events, no procedures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0" y="2907792"/>
            <a:ext cx="137160" cy="13716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60919" y="2743200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LDL only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0" y="2907792"/>
            <a:ext cx="137160" cy="13716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0" y="2743200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LDL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55264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255264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Boxed warning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68296" y="3300984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468879" y="3419856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3255264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None</a:t>
            </a:r>
          </a:p>
        </p:txBody>
      </p:sp>
      <p:sp>
        <p:nvSpPr>
          <p:cNvPr id="33" name="Oval 32"/>
          <p:cNvSpPr/>
          <p:nvPr/>
        </p:nvSpPr>
        <p:spPr>
          <a:xfrm>
            <a:off x="4800600" y="3419856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029200" y="3255264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None</a:t>
            </a:r>
          </a:p>
        </p:txBody>
      </p:sp>
      <p:sp>
        <p:nvSpPr>
          <p:cNvPr id="35" name="Oval 34"/>
          <p:cNvSpPr/>
          <p:nvPr/>
        </p:nvSpPr>
        <p:spPr>
          <a:xfrm>
            <a:off x="7132320" y="3419856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60919" y="3255264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None</a:t>
            </a:r>
          </a:p>
        </p:txBody>
      </p:sp>
      <p:sp>
        <p:nvSpPr>
          <p:cNvPr id="37" name="Oval 36"/>
          <p:cNvSpPr/>
          <p:nvPr/>
        </p:nvSpPr>
        <p:spPr>
          <a:xfrm>
            <a:off x="9464040" y="3419856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692640" y="3255264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767328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76732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Dosing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68296" y="3813048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468879" y="3931920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97479" y="3767328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Shot, 2-4 wks</a:t>
            </a:r>
          </a:p>
        </p:txBody>
      </p:sp>
      <p:sp>
        <p:nvSpPr>
          <p:cNvPr id="44" name="Oval 43"/>
          <p:cNvSpPr/>
          <p:nvPr/>
        </p:nvSpPr>
        <p:spPr>
          <a:xfrm>
            <a:off x="4800600" y="3931920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0" y="3767328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Shot, 2-4 wks</a:t>
            </a:r>
          </a:p>
        </p:txBody>
      </p:sp>
      <p:sp>
        <p:nvSpPr>
          <p:cNvPr id="46" name="Oval 45"/>
          <p:cNvSpPr/>
          <p:nvPr/>
        </p:nvSpPr>
        <p:spPr>
          <a:xfrm>
            <a:off x="7132320" y="3931920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60919" y="3767328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Shot, 2x a year</a:t>
            </a:r>
          </a:p>
        </p:txBody>
      </p:sp>
      <p:sp>
        <p:nvSpPr>
          <p:cNvPr id="48" name="Oval 47"/>
          <p:cNvSpPr/>
          <p:nvPr/>
        </p:nvSpPr>
        <p:spPr>
          <a:xfrm>
            <a:off x="9464040" y="3931920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92640" y="3767328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Daily pill, 30-min fast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4279392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0080" y="4279392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U.S. exclusivity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68296" y="4325112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468879" y="4443983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697479" y="4279392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2029 / 2032</a:t>
            </a:r>
            <a:r>
              <a:rPr sz="900" b="1" i="0">
                <a:solidFill>
                  <a:srgbClr val="4D1979"/>
                </a:solidFill>
                <a:latin typeface="Aptos"/>
              </a:rPr>
              <a:t>[5]</a:t>
            </a:r>
          </a:p>
        </p:txBody>
      </p:sp>
      <p:sp>
        <p:nvSpPr>
          <p:cNvPr id="55" name="Oval 54"/>
          <p:cNvSpPr/>
          <p:nvPr/>
        </p:nvSpPr>
        <p:spPr>
          <a:xfrm>
            <a:off x="4800600" y="4443983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029200" y="4279392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Not sourced</a:t>
            </a:r>
          </a:p>
        </p:txBody>
      </p:sp>
      <p:sp>
        <p:nvSpPr>
          <p:cNvPr id="57" name="Oval 56"/>
          <p:cNvSpPr/>
          <p:nvPr/>
        </p:nvSpPr>
        <p:spPr>
          <a:xfrm>
            <a:off x="7132320" y="4443983"/>
            <a:ext cx="137160" cy="137160"/>
          </a:xfrm>
          <a:prstGeom prst="ellipse">
            <a:avLst/>
          </a:prstGeom>
          <a:solidFill>
            <a:srgbClr val="1E7F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360919" y="4279392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2034</a:t>
            </a:r>
            <a:r>
              <a:rPr sz="900" b="1" i="0">
                <a:solidFill>
                  <a:srgbClr val="4D1979"/>
                </a:solidFill>
                <a:latin typeface="Aptos"/>
              </a:rPr>
              <a:t>[7]</a:t>
            </a:r>
          </a:p>
        </p:txBody>
      </p:sp>
      <p:sp>
        <p:nvSpPr>
          <p:cNvPr id="59" name="Oval 58"/>
          <p:cNvSpPr/>
          <p:nvPr/>
        </p:nvSpPr>
        <p:spPr>
          <a:xfrm>
            <a:off x="9464040" y="4443983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692640" y="4279392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 date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4791456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0080" y="4791456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Net price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68296" y="4837176"/>
            <a:ext cx="2258568" cy="365760"/>
          </a:xfrm>
          <a:prstGeom prst="roundRect">
            <a:avLst>
              <a:gd name="adj" fmla="val 15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468879" y="4956048"/>
            <a:ext cx="137160" cy="13716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697479" y="4791456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1630"/>
                </a:solidFill>
                <a:latin typeface="Aptos"/>
              </a:rPr>
              <a:t>Down 7%, units up 35%</a:t>
            </a:r>
            <a:r>
              <a:rPr sz="900" b="1" i="0">
                <a:solidFill>
                  <a:srgbClr val="4D1979"/>
                </a:solidFill>
                <a:latin typeface="Aptos"/>
              </a:rPr>
              <a:t>[6]</a:t>
            </a:r>
          </a:p>
        </p:txBody>
      </p:sp>
      <p:sp>
        <p:nvSpPr>
          <p:cNvPr id="66" name="Oval 65"/>
          <p:cNvSpPr/>
          <p:nvPr/>
        </p:nvSpPr>
        <p:spPr>
          <a:xfrm>
            <a:off x="4800600" y="4956048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029200" y="4791456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Not disclosed</a:t>
            </a:r>
          </a:p>
        </p:txBody>
      </p:sp>
      <p:sp>
        <p:nvSpPr>
          <p:cNvPr id="68" name="Oval 67"/>
          <p:cNvSpPr/>
          <p:nvPr/>
        </p:nvSpPr>
        <p:spPr>
          <a:xfrm>
            <a:off x="7132320" y="4956048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360919" y="4791456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Not disclosed</a:t>
            </a:r>
          </a:p>
        </p:txBody>
      </p:sp>
      <p:sp>
        <p:nvSpPr>
          <p:cNvPr id="70" name="Oval 69"/>
          <p:cNvSpPr/>
          <p:nvPr/>
        </p:nvSpPr>
        <p:spPr>
          <a:xfrm>
            <a:off x="9464040" y="4956048"/>
            <a:ext cx="137160" cy="137160"/>
          </a:xfrm>
          <a:prstGeom prst="ellipse">
            <a:avLst/>
          </a:prstGeom>
          <a:solidFill>
            <a:srgbClr val="B26A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692640" y="4791456"/>
            <a:ext cx="19202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</a:rPr>
              <a:t>Not disclosed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358384"/>
            <a:ext cx="16459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TAKEAWAYS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68296" y="5358384"/>
            <a:ext cx="3035808" cy="786384"/>
          </a:xfrm>
          <a:prstGeom prst="roundRect">
            <a:avLst>
              <a:gd name="adj" fmla="val 6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 wrap="square" lIns="228600" rIns="228600" tIns="27432" bIns="27432"/>
          <a:lstStyle/>
          <a:p>
            <a:pPr algn="l"/>
            <a:r>
              <a:rPr sz="1100" b="1">
                <a:solidFill>
                  <a:srgbClr val="E0AA3A"/>
                </a:solidFill>
                <a:latin typeface="Aptos"/>
              </a:rPr>
              <a:t>LIMITS GROWTH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Falling price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77256" y="5358384"/>
            <a:ext cx="303580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228600" rIns="228600" tIns="27432" bIns="27432"/>
          <a:lstStyle/>
          <a:p>
            <a:pPr algn="l"/>
            <a:r>
              <a:rPr sz="1100" b="1">
                <a:solidFill>
                  <a:srgbClr val="4D1979"/>
                </a:solidFill>
                <a:latin typeface="Aptos"/>
              </a:rPr>
              <a:t>FINANCIAL TIE</a:t>
            </a:r>
          </a:p>
          <a:p>
            <a:pPr algn="l"/>
            <a:r>
              <a:rPr sz="1700" b="1">
                <a:solidFill>
                  <a:srgbClr val="1F1630"/>
                </a:solidFill>
                <a:latin typeface="Aptos"/>
              </a:rPr>
              <a:t>1% price cut ≈ $30M</a:t>
            </a:r>
            <a:r>
              <a:rPr sz="1000" b="1">
                <a:solidFill>
                  <a:srgbClr val="4D1979"/>
                </a:solidFill>
                <a:latin typeface="Aptos"/>
              </a:rPr>
              <a:t>[5]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86216" y="5358384"/>
            <a:ext cx="303580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 wrap="square" lIns="228600" rIns="228600" tIns="27432" bIns="27432"/>
          <a:lstStyle/>
          <a:p>
            <a:pPr algn="l"/>
            <a:r>
              <a:rPr sz="1100" b="1">
                <a:solidFill>
                  <a:srgbClr val="4D1979"/>
                </a:solidFill>
                <a:latin typeface="Aptos"/>
              </a:rPr>
              <a:t>PRICED IN?</a:t>
            </a:r>
          </a:p>
          <a:p>
            <a:pPr algn="l"/>
            <a:r>
              <a:rPr sz="1700" b="1">
                <a:solidFill>
                  <a:srgbClr val="1F1630"/>
                </a:solidFill>
                <a:latin typeface="Aptos"/>
              </a:rPr>
              <a:t>No (medium confidence)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3825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D1979"/>
                </a:solidFill>
                <a:latin typeface="Aptos"/>
              </a:rPr>
              <a:t>[1] </a:t>
            </a:r>
            <a:r>
              <a:rPr sz="800" b="0" i="0">
                <a:solidFill>
                  <a:srgbClr val="5E566C"/>
                </a:solidFill>
                <a:latin typeface="Aptos"/>
                <a:hlinkClick r:id="rId7"/>
              </a:rPr>
              <a:t>Repatha label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[2] </a:t>
            </a:r>
            <a:r>
              <a:rPr sz="800" b="0" i="0">
                <a:solidFill>
                  <a:srgbClr val="5E566C"/>
                </a:solidFill>
                <a:latin typeface="Aptos"/>
                <a:hlinkClick r:id="rId8"/>
              </a:rPr>
              <a:t>Praluent label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[3] </a:t>
            </a:r>
            <a:r>
              <a:rPr sz="800" b="0" i="0">
                <a:solidFill>
                  <a:srgbClr val="5E566C"/>
                </a:solidFill>
                <a:latin typeface="Aptos"/>
                <a:hlinkClick r:id="rId9"/>
              </a:rPr>
              <a:t>Leqvio label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[4] </a:t>
            </a:r>
            <a:r>
              <a:rPr sz="800" b="0" i="0">
                <a:solidFill>
                  <a:srgbClr val="5E566C"/>
                </a:solidFill>
                <a:latin typeface="Aptos"/>
                <a:hlinkClick r:id="rId10"/>
              </a:rPr>
              <a:t>Lipfendra label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[5] </a:t>
            </a:r>
            <a:r>
              <a:rPr sz="800" b="0" i="0">
                <a:solidFill>
                  <a:srgbClr val="5E566C"/>
                </a:solidFill>
                <a:latin typeface="Aptos"/>
                <a:hlinkClick r:id="rId11"/>
              </a:rPr>
              <a:t>Amgen 10-K pp. 7, 65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[6] </a:t>
            </a:r>
            <a:r>
              <a:rPr sz="800" b="0" i="0">
                <a:solidFill>
                  <a:srgbClr val="5E566C"/>
                </a:solidFill>
                <a:latin typeface="Aptos"/>
                <a:hlinkClick r:id="rId12"/>
              </a:rPr>
              <a:t>Amgen 10-Q Q1 p. 32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[7] </a:t>
            </a:r>
            <a:r>
              <a:rPr sz="800" b="0" i="0">
                <a:solidFill>
                  <a:srgbClr val="5E566C"/>
                </a:solidFill>
                <a:latin typeface="Aptos"/>
                <a:hlinkClick r:id="rId13"/>
              </a:rPr>
              <a:t>Novartis 20-F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[8] </a:t>
            </a:r>
            <a:r>
              <a:rPr sz="800" b="0" i="0">
                <a:solidFill>
                  <a:srgbClr val="5E566C"/>
                </a:solidFill>
                <a:latin typeface="Aptos"/>
                <a:hlinkClick r:id="rId14"/>
              </a:rPr>
              <a:t>RCSB PDB 3H42, 2P4E, 10SB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1832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D1979"/>
                </a:solidFill>
                <a:latin typeface="Baloo 2"/>
              </a:rPr>
              <a:t>NEEDLE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"/>
            <a:ext cx="1688439" cy="237744"/>
          </a:xfrm>
          <a:prstGeom prst="roundRect">
            <a:avLst>
              <a:gd name="adj" fmla="val 30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900" b="1">
                <a:solidFill>
                  <a:srgbClr val="4D1979"/>
                </a:solidFill>
                <a:latin typeface="Aptos"/>
              </a:rPr>
              <a:t>PART 2 · THE CEO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1630"/>
                </a:solidFill>
                <a:latin typeface="Baloo 2"/>
              </a:rPr>
              <a:t>Spend $12.5M to defend a $2.3B U.S.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D1979"/>
            </a:solidFill>
          </a:ln>
        </p:spPr>
        <p:txBody>
          <a:bodyPr rtlCol="0" anchor="ctr" wrap="square" lIns="228600" rIns="228600" tIns="27432" bIns="27432"/>
          <a:lstStyle/>
          <a:p>
            <a:pPr algn="l"/>
            <a:r>
              <a:rPr sz="1600" b="1">
                <a:solidFill>
                  <a:srgbClr val="1F1630"/>
                </a:solidFill>
                <a:latin typeface="Aptos"/>
              </a:rPr>
              <a:t>We commit $12.5M* and 12 people* to offer the FDA a fully funded TAVNEOS trial instead of withdrawal. Trial money is spent only if the FDA agrees.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8833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D1979"/>
                </a:solidFill>
                <a:latin typeface="Baloo 2"/>
              </a:rPr>
              <a:t>$12.5M*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max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2240280"/>
            <a:ext cx="268833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57015" y="2468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D1979"/>
                </a:solidFill>
                <a:latin typeface="Baloo 2"/>
              </a:rPr>
              <a:t>3.0 pts*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5" y="3364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odds gain to break even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240280"/>
            <a:ext cx="268833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82512" y="2468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D1979"/>
                </a:solidFill>
                <a:latin typeface="Baloo 2"/>
              </a:rPr>
              <a:t>$413M*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364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yearly gross profit at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2240280"/>
            <a:ext cx="268833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08008" y="2468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D1979"/>
                </a:solidFill>
                <a:latin typeface="Baloo 2"/>
              </a:rPr>
              <a:t>Finding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364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566C"/>
                </a:solidFill>
                <a:latin typeface="Aptos"/>
              </a:rPr>
              <a:t>our Sharpest Needle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REJECTED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3218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1" i="0">
                <a:solidFill>
                  <a:srgbClr val="1F1630"/>
                </a:solidFill>
                <a:latin typeface="Aptos"/>
              </a:rPr>
              <a:t>Repatha rebates: </a:t>
            </a:r>
            <a:r>
              <a:rPr sz="1600" b="0" i="0">
                <a:solidFill>
                  <a:srgbClr val="5E566C"/>
                </a:solidFill>
                <a:latin typeface="Aptos"/>
              </a:rPr>
              <a:t>~$424M* cost, needs a 14.2% lift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1" i="0">
                <a:solidFill>
                  <a:srgbClr val="1F1630"/>
                </a:solidFill>
                <a:latin typeface="Aptos"/>
              </a:rPr>
              <a:t>Repatha campaign: </a:t>
            </a:r>
            <a:r>
              <a:rPr sz="1600" b="0" i="0">
                <a:solidFill>
                  <a:srgbClr val="5E566C"/>
                </a:solidFill>
                <a:latin typeface="Aptos"/>
              </a:rPr>
              <a:t>not new, left out side effects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406908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98848" y="4224528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WE'RE WRONG IF (MONTHS 6-12)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526280"/>
            <a:ext cx="3218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0" i="0">
                <a:solidFill>
                  <a:srgbClr val="1F1630"/>
                </a:solidFill>
                <a:latin typeface="Aptos"/>
              </a:rPr>
              <a:t>FDA denies the hearing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0" i="0">
                <a:solidFill>
                  <a:srgbClr val="1F1630"/>
                </a:solidFill>
                <a:latin typeface="Aptos"/>
              </a:rPr>
              <a:t>No FDA go-ahead by month 12*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0" i="0">
                <a:solidFill>
                  <a:srgbClr val="1F1630"/>
                </a:solidFill>
                <a:latin typeface="Aptos"/>
              </a:rPr>
              <a:t>Sales under $114M a quarter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4069080"/>
            <a:ext cx="3630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66176" y="4224528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D1979"/>
                </a:solidFill>
                <a:latin typeface="Aptos"/>
              </a:rPr>
              <a:t>EVIDENCE /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526280"/>
            <a:ext cx="3218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0" i="0">
                <a:solidFill>
                  <a:srgbClr val="1F1630"/>
                </a:solidFill>
                <a:latin typeface="Aptos"/>
              </a:rPr>
              <a:t>FDA's own trial: 21 of 300 enrolled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4D1979"/>
                </a:solidFill>
                <a:latin typeface="Aptos"/>
              </a:rPr>
              <a:t>•  </a:t>
            </a:r>
            <a:r>
              <a:rPr sz="1600" b="0" i="0">
                <a:solidFill>
                  <a:srgbClr val="B3261E"/>
                </a:solidFill>
                <a:latin typeface="Aptos"/>
              </a:rPr>
              <a:t>No FDA precedent for this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167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E566C"/>
                </a:solidFill>
                <a:latin typeface="Aptos"/>
              </a:rPr>
              <a:t>* labelled assumption based on agentic research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825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D1979"/>
                </a:solidFill>
                <a:latin typeface="Aptos"/>
              </a:rPr>
              <a:t>[1] </a:t>
            </a:r>
            <a:r>
              <a:rPr sz="800" b="0" i="0">
                <a:solidFill>
                  <a:srgbClr val="5E566C"/>
                </a:solidFill>
                <a:latin typeface="Aptos"/>
                <a:hlinkClick r:id="rId3"/>
              </a:rPr>
              <a:t>Amgen 10-Q Q2 2026, pp. 16, 39, 54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[2] </a:t>
            </a:r>
            <a:r>
              <a:rPr sz="800" b="0" i="0">
                <a:solidFill>
                  <a:srgbClr val="5E566C"/>
                </a:solidFill>
                <a:latin typeface="Aptos"/>
                <a:hlinkClick r:id="rId4"/>
              </a:rPr>
              <a:t>Federal Register, Apr 30 2026</a:t>
            </a:r>
            <a:r>
              <a:rPr sz="800" b="0" i="0">
                <a:solidFill>
                  <a:srgbClr val="5E566C"/>
                </a:solidFill>
                <a:latin typeface="Aptos"/>
              </a:rPr>
              <a:t>   </a:t>
            </a:r>
            <a:r>
              <a:rPr sz="800" b="1" i="0">
                <a:solidFill>
                  <a:srgbClr val="4D1979"/>
                </a:solidFill>
                <a:latin typeface="Aptos"/>
              </a:rPr>
              <a:t>[3] </a:t>
            </a:r>
            <a:r>
              <a:rPr sz="800" b="0" i="0">
                <a:solidFill>
                  <a:srgbClr val="5E566C"/>
                </a:solidFill>
                <a:latin typeface="Aptos"/>
                <a:hlinkClick r:id="rId5"/>
              </a:rPr>
              <a:t>Q2 2026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197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5669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Baloo 2"/>
              </a:rPr>
              <a:t>NEEDLE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Baloo 2"/>
              </a:rPr>
              <a:t>Live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3611880" cy="960120"/>
          </a:xfrm>
          <a:prstGeom prst="roundRect">
            <a:avLst>
              <a:gd name="adj" fmla="val 15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0AA3A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/>
            <a:r>
              <a:rPr sz="1800" b="1">
                <a:solidFill>
                  <a:srgbClr val="3C145F"/>
                </a:solidFill>
                <a:latin typeface="Baloo 2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Baloo 2"/>
              </a:rPr>
              <a:t>Find the needle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24527" y="4315968"/>
            <a:ext cx="329185" cy="0"/>
          </a:xfrm>
          <a:prstGeom prst="line">
            <a:avLst/>
          </a:prstGeom>
          <a:ln w="50800">
            <a:solidFill>
              <a:srgbClr val="E0AA3A"/>
            </a:solidFill>
            <a:tailEnd type="triangle" w="lg" h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3840480"/>
            <a:ext cx="3611880" cy="960120"/>
          </a:xfrm>
          <a:prstGeom prst="roundRect">
            <a:avLst>
              <a:gd name="adj" fmla="val 15000"/>
            </a:avLst>
          </a:prstGeom>
          <a:solidFill>
            <a:srgbClr val="632D9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46320" y="4069080"/>
            <a:ext cx="502920" cy="502920"/>
          </a:xfrm>
          <a:prstGeom prst="ellipse">
            <a:avLst/>
          </a:prstGeom>
          <a:solidFill>
            <a:srgbClr val="E0AA3A"/>
          </a:solidFill>
          <a:ln>
            <a:noFill/>
          </a:ln>
        </p:spPr>
        <p:txBody>
          <a:bodyPr rtlCol="0" anchor="ctr" wrap="square" lIns="0" rIns="0" tIns="27432" bIns="27432"/>
          <a:lstStyle/>
          <a:p>
            <a:pPr algn="ctr"/>
            <a:r>
              <a:rPr sz="1800" b="1">
                <a:solidFill>
                  <a:srgbClr val="3C145F"/>
                </a:solidFill>
                <a:latin typeface="Baloo 2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840480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Baloo 2"/>
              </a:rPr>
              <a:t>The CEO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E8DEF5"/>
                </a:solidFill>
                <a:latin typeface="Aptos"/>
              </a:rPr>
              <a:t>Every answer cited.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91640"/>
            <a:ext cx="28803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828800"/>
            <a:ext cx="2834640" cy="2834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8240" y="498348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D1979"/>
                </a:solidFill>
                <a:latin typeface="Aptos"/>
                <a:hlinkClick r:id="rId4"/>
              </a:rPr>
              <a:t>Open the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1979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" name="Picture 2" descr="h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1832" y="182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D1979"/>
                </a:solidFill>
                <a:latin typeface="Baloo 2"/>
              </a:rPr>
              <a:t>NEEDLE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"/>
            <a:ext cx="779068" cy="237744"/>
          </a:xfrm>
          <a:prstGeom prst="roundRect">
            <a:avLst>
              <a:gd name="adj" fmla="val 30000"/>
            </a:avLst>
          </a:prstGeom>
          <a:solidFill>
            <a:srgbClr val="4D1979"/>
          </a:solidFill>
          <a:ln>
            <a:noFill/>
          </a:ln>
        </p:spPr>
        <p:txBody>
          <a:bodyPr rtlCol="0" anchor="ctr" wrap="square" lIns="36576" rIns="36576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1630"/>
                </a:solidFill>
                <a:latin typeface="Baloo 2"/>
              </a:rPr>
              <a:t>Supporting math and claims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E566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Needle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3"/>
              </a:rPr>
              <a:t>$2.3B U.S. ÷ 544M shares = $4.23/sh pre-tax; $2.4B ÷ $459M sales = 5.2x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Gross-to-net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93392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4"/>
              </a:rPr>
              <a:t>$41,983M ÷ $77,131M gross = 54.4%; excess reserve build $1,067M = 10.7% of $9,958M cash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15184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615184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5"/>
              </a:rPr>
              <a:t>0.22 x $381M = $84M; ÷ $345M Q1 growth = 24%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23697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236976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4"/>
              </a:rPr>
              <a:t>$3.6B + $5.1B + $2.0B - $0.9B - $2.2B = $7.6B; ÷ 544M = $13.97/sh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58768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CEO Move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858768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3"/>
              </a:rPr>
              <a:t>$514M* x 80.4% margin = $413M*/yr; $12.5M* ÷ $413M* = 3.0 pts* break-even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CEA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D1979"/>
                </a:solidFill>
                <a:latin typeface="Aptos"/>
              </a:rPr>
              <a:t>Full 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480560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1630"/>
                </a:solidFill>
                <a:latin typeface="Aptos"/>
                <a:hlinkClick r:id="rId4"/>
              </a:rPr>
              <a:t>331 patients x $54,909 = $18.2M + $25M* = $43.2M; released only on FDA signal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EDE5F6"/>
          </a:solidFill>
          <a:ln>
            <a:noFill/>
          </a:ln>
        </p:spPr>
        <p:txBody>
          <a:bodyPr rtlCol="0" anchor="ctr" wrap="square" lIns="228600" rIns="228600" tIns="27432" bIns="27432"/>
          <a:lstStyle/>
          <a:p>
            <a:pPr algn="l"/>
            <a:r>
              <a:rPr sz="1300" b="1">
                <a:solidFill>
                  <a:srgbClr val="4D1979"/>
                </a:solidFill>
                <a:latin typeface="Aptos"/>
              </a:rPr>
              <a:t>No claims map or campaign materials. </a:t>
            </a:r>
            <a:r>
              <a:rPr sz="1300" b="0">
                <a:solidFill>
                  <a:srgbClr val="1F1630"/>
                </a:solidFill>
                <a:latin typeface="Aptos"/>
              </a:rPr>
              <a:t>The move is a regulatory filing that no doctor or patient sees, so promo rules do not apply.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07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E566C"/>
                </a:solidFill>
                <a:latin typeface="Aptos"/>
              </a:rPr>
              <a:t>* labelled assumption. Every row links to its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D1979"/>
      </a:hlink>
      <a:folHlink>
        <a:srgbClr val="4D197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